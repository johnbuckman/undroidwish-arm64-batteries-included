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0986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ohnbuckman/undroidwish-arm64-batteries-included/tree/mai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457200"/>
            <a:ext cx="850392" cy="1371600"/>
          </a:xfrm>
          <a:prstGeom prst="line">
            <a:avLst/>
          </a:prstGeom>
          <a:noFill/>
          <a:ln w="30480">
            <a:solidFill>
              <a:srgbClr val="E8552D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17536" y="676656"/>
            <a:ext cx="411480" cy="0"/>
          </a:xfrm>
          <a:prstGeom prst="line">
            <a:avLst/>
          </a:prstGeom>
          <a:noFill/>
          <a:ln w="25400">
            <a:solidFill>
              <a:srgbClr val="E8552D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882128" y="1005840"/>
            <a:ext cx="411480" cy="0"/>
          </a:xfrm>
          <a:prstGeom prst="line">
            <a:avLst/>
          </a:prstGeom>
          <a:noFill/>
          <a:ln w="25400">
            <a:solidFill>
              <a:srgbClr val="E8552D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0" y="1335024"/>
            <a:ext cx="384048" cy="0"/>
          </a:xfrm>
          <a:prstGeom prst="line">
            <a:avLst/>
          </a:prstGeom>
          <a:noFill/>
          <a:ln w="25400">
            <a:solidFill>
              <a:srgbClr val="E8552D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38160" y="1280160"/>
            <a:ext cx="510235" cy="822960"/>
          </a:xfrm>
          <a:prstGeom prst="line">
            <a:avLst/>
          </a:prstGeom>
          <a:noFill/>
          <a:ln w="30480">
            <a:solidFill>
              <a:srgbClr val="1FB3A6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69834" y="1411834"/>
            <a:ext cx="246888" cy="0"/>
          </a:xfrm>
          <a:prstGeom prst="line">
            <a:avLst/>
          </a:prstGeom>
          <a:noFill/>
          <a:ln w="25400">
            <a:solidFill>
              <a:srgbClr val="1FB3A6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368589" y="1609344"/>
            <a:ext cx="246888" cy="0"/>
          </a:xfrm>
          <a:prstGeom prst="line">
            <a:avLst/>
          </a:prstGeom>
          <a:noFill/>
          <a:ln w="25400">
            <a:solidFill>
              <a:srgbClr val="1FB3A6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467344" y="1806854"/>
            <a:ext cx="230429" cy="0"/>
          </a:xfrm>
          <a:prstGeom prst="line">
            <a:avLst/>
          </a:prstGeom>
          <a:noFill/>
          <a:ln w="25400">
            <a:solidFill>
              <a:srgbClr val="1FB3A6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234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0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169164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undroidwish for Apple Silicon Macs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02920" y="3429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with bluetooth and borg compatibility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2920" y="4370832"/>
            <a:ext cx="2743200" cy="0"/>
          </a:xfrm>
          <a:prstGeom prst="line">
            <a:avLst/>
          </a:prstGeom>
          <a:noFill/>
          <a:ln w="12700">
            <a:solidFill>
              <a:srgbClr val="313B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Buckman</a:t>
            </a:r>
            <a:r>
              <a:rPr lang="en-US" sz="13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EuroTcl 2026 · Vienna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0233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github.com/johnbuckman/undroidwish-arm64-batteries-included</a:t>
            </a: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under the Tcl/Tk license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Rosetta 2 is being retired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71500" y="1700784"/>
            <a:ext cx="0" cy="2377440"/>
          </a:xfrm>
          <a:prstGeom prst="line">
            <a:avLst/>
          </a:prstGeom>
          <a:noFill/>
          <a:ln w="19050">
            <a:solidFill>
              <a:srgbClr val="313B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636776"/>
            <a:ext cx="137160" cy="137160"/>
          </a:xfrm>
          <a:prstGeom prst="ellipse">
            <a:avLst/>
          </a:prstGeom>
          <a:solidFill>
            <a:srgbClr val="1FB3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95528" y="1554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2020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194560" y="154533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WWDC: the Apple Silicon switch begins. Rosetta 2 is billed as transitional.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112264"/>
            <a:ext cx="137160" cy="137160"/>
          </a:xfrm>
          <a:prstGeom prst="ellipse">
            <a:avLst/>
          </a:prstGeom>
          <a:solidFill>
            <a:srgbClr val="1FB3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95528" y="20299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2020824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M1 Macs. Intel apps run only via Rosetta 2 translation.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587752"/>
            <a:ext cx="137160" cy="137160"/>
          </a:xfrm>
          <a:prstGeom prst="ellipse">
            <a:avLst/>
          </a:prstGeom>
          <a:solidFill>
            <a:srgbClr val="F2B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5528" y="250545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2025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194560" y="249631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WWDC: Rosetta 2 promised for only two more releases — through macOS 27.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37160" cy="137160"/>
          </a:xfrm>
          <a:prstGeom prst="ellipse">
            <a:avLst/>
          </a:prstGeom>
          <a:solidFill>
            <a:srgbClr val="F2B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5528" y="298094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194560" y="297180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26.4 starts warning users about Rosetta-dependent apps.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538728"/>
            <a:ext cx="137160" cy="137160"/>
          </a:xfrm>
          <a:prstGeom prst="ellipse">
            <a:avLst/>
          </a:prstGeom>
          <a:solidFill>
            <a:srgbClr val="E855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95528" y="345643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2026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44728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27 “Golden Gate” — last release with full Rosetta 2.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014216"/>
            <a:ext cx="137160" cy="137160"/>
          </a:xfrm>
          <a:prstGeom prst="ellipse">
            <a:avLst/>
          </a:prstGeom>
          <a:solidFill>
            <a:srgbClr val="E855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95528" y="39319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2027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194560" y="392277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28 removes Rosetta 2 — x86 apps stop launching.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52160" y="1581912"/>
            <a:ext cx="2788920" cy="2651760"/>
          </a:xfrm>
          <a:prstGeom prst="roundRect">
            <a:avLst>
              <a:gd name="adj" fmla="val 3103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26480" y="1856232"/>
            <a:ext cx="603504" cy="603504"/>
          </a:xfrm>
          <a:prstGeom prst="ellipse">
            <a:avLst/>
          </a:prstGeom>
          <a:solidFill>
            <a:srgbClr val="E8552D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391" y="2013143"/>
            <a:ext cx="289682" cy="28968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126480" y="2569464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on borrowed time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6126480" y="3136392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x86 undroidwish only runs through a translation layer Apple is deleting. A native arm64 build is the only way de1app keeps running on macOS 27 and beyond.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arm64 vs x86 under Rosetta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880360" cy="2331720"/>
          </a:xfrm>
          <a:prstGeom prst="roundRect">
            <a:avLst>
              <a:gd name="adj" fmla="val 3529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76479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FB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1.46×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02920" y="27157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overall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313639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mean of all micro-benchmarks</a:t>
            </a:r>
            <a:endParaRPr lang="en-US" sz="1150" dirty="0"/>
          </a:p>
          <a:p>
            <a:pPr marL="0" indent="0" algn="ctr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 · M4 MacBook Air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657600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937760" y="1691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1.25×</a:t>
            </a: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20%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856232"/>
            <a:ext cx="2194560" cy="137160"/>
          </a:xfrm>
          <a:prstGeom prst="roundRect">
            <a:avLst>
              <a:gd name="adj" fmla="val 33333"/>
            </a:avLst>
          </a:prstGeom>
          <a:solidFill>
            <a:srgbClr val="1E26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0" y="1856232"/>
            <a:ext cx="1035170" cy="137160"/>
          </a:xfrm>
          <a:prstGeom prst="roundRect">
            <a:avLst>
              <a:gd name="adj" fmla="val 33333"/>
            </a:avLst>
          </a:prstGeom>
          <a:solidFill>
            <a:srgbClr val="F2B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0" y="22585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937760" y="2258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1.47×</a:t>
            </a: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47%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194560" cy="137160"/>
          </a:xfrm>
          <a:prstGeom prst="roundRect">
            <a:avLst>
              <a:gd name="adj" fmla="val 33333"/>
            </a:avLst>
          </a:prstGeom>
          <a:solidFill>
            <a:srgbClr val="1E26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0" y="2423160"/>
            <a:ext cx="1946119" cy="137160"/>
          </a:xfrm>
          <a:prstGeom prst="roundRect">
            <a:avLst>
              <a:gd name="adj" fmla="val 33333"/>
            </a:avLst>
          </a:prstGeom>
          <a:solidFill>
            <a:srgbClr val="E855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0" y="282549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Tcl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937760" y="2825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1.53×</a:t>
            </a: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53%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0" y="2990088"/>
            <a:ext cx="2194560" cy="137160"/>
          </a:xfrm>
          <a:prstGeom prst="roundRect">
            <a:avLst>
              <a:gd name="adj" fmla="val 33333"/>
            </a:avLst>
          </a:prstGeom>
          <a:solidFill>
            <a:srgbClr val="1E26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00800" y="2990088"/>
            <a:ext cx="2194560" cy="137160"/>
          </a:xfrm>
          <a:prstGeom prst="roundRect">
            <a:avLst>
              <a:gd name="adj" fmla="val 33333"/>
            </a:avLst>
          </a:prstGeom>
          <a:solidFill>
            <a:srgbClr val="1FB3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0" y="33924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937760" y="33924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3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1.31×</a:t>
            </a:r>
            <a:r>
              <a:rPr lang="en-US" sz="10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31%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3557016"/>
            <a:ext cx="2194560" cy="137160"/>
          </a:xfrm>
          <a:prstGeom prst="roundRect">
            <a:avLst>
              <a:gd name="adj" fmla="val 33333"/>
            </a:avLst>
          </a:prstGeom>
          <a:solidFill>
            <a:srgbClr val="1E26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00800" y="3557016"/>
            <a:ext cx="1283611" cy="137160"/>
          </a:xfrm>
          <a:prstGeom prst="roundRect">
            <a:avLst>
              <a:gd name="adj" fmla="val 33333"/>
            </a:avLst>
          </a:prstGeom>
          <a:solidFill>
            <a:srgbClr val="C43E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4169664"/>
            <a:ext cx="8138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 gains are smallest because much of that work is SDL surface blitting on the GPU — CPU-heavy math and list work shows the biggest native win.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metric — x86 vs arm64 (ms)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7168896" cy="271576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startup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531.7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425.0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list.build_sort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137.7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83.1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math.int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954.1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583.4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list.foreach_search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125.3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59.2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2.12×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math.float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894.7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623.0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dict.set_get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396.5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265.7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math.trig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519.7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336.4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regexp.match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1258.9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982.5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math.fib_recursion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422.6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281.4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array.set_get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157.7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110.0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math.bignum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44.6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34.9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binary.format_scan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167.7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109.1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str.append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47.4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28.9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tk.widget_create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20.6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15.5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str.map_regsub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320.2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260.0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tk.canvas_items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12.0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9.5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str.format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284.0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184.1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tk.canvas_redraw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124.3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95.4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tk.text_insert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9AA6B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4.3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60" dirty="0">
                          <a:solidFill>
                            <a:srgbClr val="ECEFF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3.2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80" b="1" dirty="0">
                          <a:solidFill>
                            <a:srgbClr val="1FB3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1.34×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31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02920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borg command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3611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AndroWish's platform bridge — reintroduced on the Mac desktop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559552" y="896112"/>
            <a:ext cx="3081528" cy="3328416"/>
          </a:xfrm>
          <a:prstGeom prst="roundRect">
            <a:avLst>
              <a:gd name="adj" fmla="val 1780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blurRad="139700" dist="38100" dir="5400000" algn="bl" rotWithShape="0">
              <a:srgbClr val="000000">
                <a:alpha val="3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iWish borg iOS device bridge — Toast/Speak/Beep/Vibrate actions, brightness slider, and osbuildinfo device info showing manufacturer Ap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960120"/>
            <a:ext cx="295351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borg does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AndroWish, borg exposes the Android platform to Tcl</a:t>
            </a:r>
            <a:endParaRPr lang="en-US" sz="155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Notifications, speech, USB, preferences, device info</a:t>
            </a:r>
            <a:endParaRPr lang="en-US" sz="155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dozens of subcommands — a native API in Tcl</a:t>
            </a:r>
            <a:endParaRPr lang="en-US" sz="155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de1app is written against borg, assuming Android underneath</a:t>
            </a:r>
            <a:endParaRPr lang="en-US" sz="155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undroidwish ships “sans the borg” — it's missing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23560" y="1554480"/>
            <a:ext cx="3017520" cy="2743200"/>
          </a:xfrm>
          <a:prstGeom prst="roundRect">
            <a:avLst>
              <a:gd name="adj" fmla="val 3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897880" y="1801368"/>
            <a:ext cx="658368" cy="658368"/>
          </a:xfrm>
          <a:prstGeom prst="ellipse">
            <a:avLst/>
          </a:prstGeom>
          <a:solidFill>
            <a:srgbClr val="1FB3A6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9056" y="1972544"/>
            <a:ext cx="316017" cy="3160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87452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897880" y="265176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bridge de1app expects — so we bring it back on the Mac.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tkBorgOSX.c — a clean-room 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#ifdef-shred of the 6,900-line Android JNI file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self-contained reimplementation guarded by __APPLE__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the same subcommand surface — code runs unmodified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errors on a well-formed call; absent features no-op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only on libc, Tcl, CoreFoundation, IOKit, CoreGraphics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23560" y="1554480"/>
            <a:ext cx="3017520" cy="2743200"/>
          </a:xfrm>
          <a:prstGeom prst="roundRect">
            <a:avLst>
              <a:gd name="adj" fmla="val 3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897880" y="1801368"/>
            <a:ext cx="658368" cy="658368"/>
          </a:xfrm>
          <a:prstGeom prst="ellipse">
            <a:avLst/>
          </a:prstGeom>
          <a:solidFill>
            <a:srgbClr val="F2B233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9056" y="1972544"/>
            <a:ext cx="316017" cy="3160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97880" y="2606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C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require Borg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897880" y="3081528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as a loadable Tcl stubs package, bundled into assets.zip — the same way undroidwish carries all its batteries.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calls, native backends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029200" cy="2788920"/>
          </a:xfrm>
          <a:prstGeom prst="roundRect">
            <a:avLst>
              <a:gd name="adj" fmla="val 1967"/>
            </a:avLst>
          </a:prstGeom>
          <a:solidFill>
            <a:srgbClr val="0B0F16"/>
          </a:solidFill>
          <a:ln w="12700">
            <a:solidFill>
              <a:srgbClr val="2A3341"/>
            </a:solidFill>
            <a:prstDash val="solid"/>
          </a:ln>
          <a:effectLst>
            <a:outerShdw blurRad="114300" dist="38100" dir="54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2104" y="171907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78408" y="171907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65506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borg.tcl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952" y="20116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de1app code, unmodified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borg speak </a:t>
            </a:r>
            <a:r>
              <a:rPr lang="en-US" sz="1150" dirty="0">
                <a:solidFill>
                  <a:srgbClr val="F2B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"Shot ready"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borg toast </a:t>
            </a:r>
            <a:r>
              <a:rPr lang="en-US" sz="1150" dirty="0">
                <a:solidFill>
                  <a:srgbClr val="F2B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"Saved"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borg beep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bi [</a:t>
            </a:r>
            <a:r>
              <a:rPr lang="en-US" sz="1150" dirty="0">
                <a:solidFill>
                  <a:srgbClr val="1FB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borg osbuildinfo</a:t>
            </a: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manufacturer -&gt; </a:t>
            </a: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model        -&gt; </a:t>
            </a: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Mac16,12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borg usbdevices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0" y="164592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backends, Android-shaped output</a:t>
            </a:r>
            <a:endParaRPr lang="en-US" sz="13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for speech, afplay for beep</a:t>
            </a:r>
            <a:endParaRPr lang="en-US" sz="13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always-foreground SDL panel for toast</a:t>
            </a:r>
            <a:endParaRPr lang="en-US" sz="13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IOKit enumerates USB; DisplayServices sets brightness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works natively on the Mac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977640" cy="1280160"/>
          </a:xfrm>
          <a:prstGeom prst="roundRect">
            <a:avLst>
              <a:gd name="adj" fmla="val 6429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8952" y="1755648"/>
            <a:ext cx="457200" cy="457200"/>
          </a:xfrm>
          <a:prstGeom prst="ellipse">
            <a:avLst/>
          </a:prstGeom>
          <a:solidFill>
            <a:srgbClr val="E8552D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87452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0744" y="17373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&amp; sound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58952" y="2267712"/>
            <a:ext cx="3465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· stopspeak · beep · toast — via say, afplay and an always-foreground SDL overlay.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54880" y="1554480"/>
            <a:ext cx="3977640" cy="1280160"/>
          </a:xfrm>
          <a:prstGeom prst="roundRect">
            <a:avLst>
              <a:gd name="adj" fmla="val 6429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010912" y="1755648"/>
            <a:ext cx="457200" cy="457200"/>
          </a:xfrm>
          <a:prstGeom prst="ellipse">
            <a:avLst/>
          </a:prstGeom>
          <a:solidFill>
            <a:srgbClr val="1FB3A6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4" y="187452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32704" y="17373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&amp; display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5010912" y="2267712"/>
            <a:ext cx="3465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osbuildinfo · displaymetrics · brightness · networkinfo — real values from sysctl &amp; CoreGraphics.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3063240"/>
            <a:ext cx="3977640" cy="1280160"/>
          </a:xfrm>
          <a:prstGeom prst="roundRect">
            <a:avLst>
              <a:gd name="adj" fmla="val 6429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58952" y="3264408"/>
            <a:ext cx="457200" cy="457200"/>
          </a:xfrm>
          <a:prstGeom prst="ellipse">
            <a:avLst/>
          </a:prstGeom>
          <a:solidFill>
            <a:srgbClr val="F2B233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338328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0744" y="324612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&amp; prefs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758952" y="3776472"/>
            <a:ext cx="3465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sharedpreferences · osenvironment — a typed KV store under ~/Library/Application Support.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754880" y="3063240"/>
            <a:ext cx="3977640" cy="1280160"/>
          </a:xfrm>
          <a:prstGeom prst="roundRect">
            <a:avLst>
              <a:gd name="adj" fmla="val 6429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010912" y="3264408"/>
            <a:ext cx="457200" cy="457200"/>
          </a:xfrm>
          <a:prstGeom prst="ellipse">
            <a:avLst/>
          </a:prstGeom>
          <a:solidFill>
            <a:srgbClr val="C43E1C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784" y="338328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32704" y="324612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&amp; app control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5010912" y="3776472"/>
            <a:ext cx="3465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usbdevices · withdraw · spinner · log · locale — IOKit enumeration and native window control.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Graceful where macOS differs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931920" cy="2743200"/>
          </a:xfrm>
          <a:prstGeom prst="roundRect">
            <a:avLst>
              <a:gd name="adj" fmla="val 3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8952" y="1810512"/>
            <a:ext cx="512064" cy="512064"/>
          </a:xfrm>
          <a:prstGeom prst="ellipse">
            <a:avLst/>
          </a:prstGeom>
          <a:solidFill>
            <a:srgbClr val="F2B233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089" y="194364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9032" y="17739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— common case covered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58952" y="2514600"/>
            <a:ext cx="34198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→ open a URL or file</a:t>
            </a:r>
            <a:endParaRPr lang="en-US" sz="1350" dirty="0"/>
          </a:p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→ osascript banners</a:t>
            </a:r>
            <a:endParaRPr lang="en-US" sz="1350" dirty="0"/>
          </a:p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state via system_profiler</a:t>
            </a:r>
            <a:endParaRPr lang="en-US" sz="1350" dirty="0"/>
          </a:p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report granted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709160" y="1554480"/>
            <a:ext cx="3931920" cy="2743200"/>
          </a:xfrm>
          <a:prstGeom prst="roundRect">
            <a:avLst>
              <a:gd name="adj" fmla="val 3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965192" y="1810512"/>
            <a:ext cx="512064" cy="512064"/>
          </a:xfrm>
          <a:prstGeom prst="ellipse">
            <a:avLst/>
          </a:prstGeom>
          <a:solidFill>
            <a:srgbClr val="E8552D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8329" y="194364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05272" y="17739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 — accepted, never errors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965192" y="2514600"/>
            <a:ext cx="34198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vibrate · sms · NFC — no hardware</a:t>
            </a:r>
            <a:endParaRPr lang="en-US" sz="1350" dirty="0"/>
          </a:p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· location · sensors — future work</a:t>
            </a:r>
            <a:endParaRPr lang="en-US" sz="1350" dirty="0"/>
          </a:p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Android-shaped empty values</a:t>
            </a:r>
            <a:endParaRPr lang="en-US" sz="1350" dirty="0"/>
          </a:p>
          <a:p>
            <a:pPr marL="203200" indent="-203200" algn="l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de1app runs without a single crash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31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02920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Bluetooth LE on the Mac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3611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Android ble command set, now driven by CoreBluetooth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513832" y="987552"/>
            <a:ext cx="3191256" cy="3118104"/>
          </a:xfrm>
          <a:prstGeom prst="roundRect">
            <a:avLst>
              <a:gd name="adj" fmla="val 1760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blurRad="139700" dist="38100" dir="5400000" algn="bl" rotWithShape="0">
              <a:srgbClr val="000000">
                <a:alpha val="3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iWish Bluetooth LE debugger scanning and subscribing to a Skale scale on mac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51560"/>
            <a:ext cx="3063240" cy="29900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ble API, CoreBluetooth underneath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undroidwish now bundles a native BLE driver for macOS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the exact same ble command set as AndroWish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· connect · discover · read · write · subscribe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CoreBluetooth, marshalled onto the Tcl event loop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de1app's Android BLE code runs unchanged on the Mac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23560" y="1554480"/>
            <a:ext cx="3017520" cy="2743200"/>
          </a:xfrm>
          <a:prstGeom prst="roundRect">
            <a:avLst>
              <a:gd name="adj" fmla="val 3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897880" y="1801368"/>
            <a:ext cx="658368" cy="658368"/>
          </a:xfrm>
          <a:prstGeom prst="ellipse">
            <a:avLst/>
          </a:prstGeom>
          <a:solidFill>
            <a:srgbClr val="1FB3A6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9056" y="1972544"/>
            <a:ext cx="316017" cy="3160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97880" y="2606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C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require ble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897880" y="3081528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compatible with the Android ble command set — write the BLE code once, run it on both.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undroidwish · Apple Silicon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502920"/>
            <a:ext cx="737006" cy="1188720"/>
          </a:xfrm>
          <a:prstGeom prst="line">
            <a:avLst/>
          </a:prstGeom>
          <a:noFill/>
          <a:ln w="30480">
            <a:solidFill>
              <a:srgbClr val="E8552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871155" y="693115"/>
            <a:ext cx="356616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013802" y="978408"/>
            <a:ext cx="356616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156448" y="1263701"/>
            <a:ext cx="332842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Tcl/Tk code base running on Mac, iPad and Android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26060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arm64 on Apple Silicon — signed and notarized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borg and ble reintroduced, with native Apple backends</a:t>
            </a:r>
            <a:endParaRPr lang="en-US" sz="1500" dirty="0"/>
          </a:p>
          <a:p>
            <a:pPr marL="203200" indent="-203200" algn="l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Desktop, iOS and Android from a single Tcl script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4315968"/>
            <a:ext cx="2743200" cy="0"/>
          </a:xfrm>
          <a:prstGeom prst="line">
            <a:avLst/>
          </a:prstGeom>
          <a:noFill/>
          <a:ln w="12700">
            <a:solidFill>
              <a:srgbClr val="313B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Buckman</a:t>
            </a:r>
            <a:r>
              <a:rPr lang="en-US" sz="130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github.com/johnbuckman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1019</Words>
  <Application>Microsoft Macintosh PowerPoint</Application>
  <PresentationFormat>On-screen Show (16:9)</PresentationFormat>
  <Paragraphs>230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undroidwish for Apple Silicon Macs</dc:title>
  <dc:subject>PptxGenJS Presentation</dc:subject>
  <dc:creator>John Buckman</dc:creator>
  <cp:lastModifiedBy>john buckman</cp:lastModifiedBy>
  <cp:revision>2</cp:revision>
  <dcterms:created xsi:type="dcterms:W3CDTF">2026-07-11T16:07:41Z</dcterms:created>
  <dcterms:modified xsi:type="dcterms:W3CDTF">2026-07-11T16:16:22Z</dcterms:modified>
</cp:coreProperties>
</file>